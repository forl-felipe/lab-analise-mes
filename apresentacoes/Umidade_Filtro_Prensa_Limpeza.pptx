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ltado" id="{50949e52-807e-1ef4-8566-4f69b6298050}">
          <p14:sldIdLst>
            <p14:sldId id="256"/>
          </p14:sldIdLst>
        </p14:section>
        <p14:section name="Evidência estatística" id="{e9178527-0480-50fb-033c-c24d6cd299d7}">
          <p14:sldIdLst>
            <p14:sldId id="257"/>
          </p14:sldIdLst>
        </p14:section>
        <p14:section name="Rota de limpeza" id="{c12dd906-fc0b-7f02-eb46-ea2c2a51173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13"/>
          <c:w val="0.91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Umidade H₂O (%)</c:v>
                </c:pt>
              </c:strCache>
            </c:strRef>
          </c:tx>
          <c:spPr>
            <a:solidFill>
              <a:srgbClr val="61889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1889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FC000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  <c:pt idx="11">
                    <c:v>out/26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16.75</c:v>
                </c:pt>
                <c:pt idx="1">
                  <c:v>16.57</c:v>
                </c:pt>
                <c:pt idx="2">
                  <c:v>17.16</c:v>
                </c:pt>
                <c:pt idx="3">
                  <c:v>17.23</c:v>
                </c:pt>
                <c:pt idx="4">
                  <c:v>17.64</c:v>
                </c:pt>
                <c:pt idx="5">
                  <c:v>17.28</c:v>
                </c:pt>
                <c:pt idx="6">
                  <c:v>17.51</c:v>
                </c:pt>
                <c:pt idx="7">
                  <c:v>16.9</c:v>
                </c:pt>
                <c:pt idx="8">
                  <c:v>16.63</c:v>
                </c:pt>
                <c:pt idx="9">
                  <c:v>16.93</c:v>
                </c:pt>
                <c:pt idx="10">
                  <c:v>16.17</c:v>
                </c:pt>
                <c:pt idx="11">
                  <c:v>15.4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.5"/>
          <c:min val="14"/>
        </c:scaling>
        <c:delete val="0"/>
        <c:axPos val="l"/>
        <c:majorGridlines>
          <c:spPr>
            <a:ln w="6350" cap="flat">
              <a:solidFill>
                <a:srgbClr val="00335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5BEC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09"/>
          <c:w val="0.76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Umidade mensal (%)</c:v>
                </c:pt>
              </c:strCache>
            </c:strRef>
          </c:tx>
          <c:spPr>
            <a:solidFill>
              <a:srgbClr val="00335A"/>
            </a:solidFill>
            <a:ln w="31750" cap="flat">
              <a:solidFill>
                <a:srgbClr val="00335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335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00335A"/>
              </a:solidFill>
              <a:ln w="9525" cap="flat">
                <a:solidFill>
                  <a:srgbClr val="0033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  <c:pt idx="11">
                    <c:v>out/26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16.75</c:v>
                </c:pt>
                <c:pt idx="1">
                  <c:v>16.57</c:v>
                </c:pt>
                <c:pt idx="2">
                  <c:v>17.16</c:v>
                </c:pt>
                <c:pt idx="3">
                  <c:v>17.23</c:v>
                </c:pt>
                <c:pt idx="4">
                  <c:v>17.64</c:v>
                </c:pt>
                <c:pt idx="5">
                  <c:v>17.28</c:v>
                </c:pt>
                <c:pt idx="6">
                  <c:v>17.51</c:v>
                </c:pt>
                <c:pt idx="7">
                  <c:v>16.9</c:v>
                </c:pt>
                <c:pt idx="8">
                  <c:v>16.63</c:v>
                </c:pt>
                <c:pt idx="9">
                  <c:v>16.93</c:v>
                </c:pt>
                <c:pt idx="10">
                  <c:v>16.17</c:v>
                </c:pt>
                <c:pt idx="11">
                  <c:v>15.4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0335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Média antes</c:v>
                </c:pt>
              </c:strCache>
            </c:strRef>
          </c:tx>
          <c:spPr>
            <a:solidFill>
              <a:srgbClr val="61889B"/>
            </a:solidFill>
            <a:ln w="19050" cap="flat">
              <a:solidFill>
                <a:srgbClr val="6188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1889B"/>
              </a:solidFill>
              <a:ln w="9525" cap="flat">
                <a:solidFill>
                  <a:srgbClr val="6188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  <c:pt idx="11">
                    <c:v>out/26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17.15</c:v>
                </c:pt>
                <c:pt idx="1">
                  <c:v>17.15</c:v>
                </c:pt>
                <c:pt idx="2">
                  <c:v>17.15</c:v>
                </c:pt>
                <c:pt idx="3">
                  <c:v>17.15</c:v>
                </c:pt>
                <c:pt idx="4">
                  <c:v>17.15</c:v>
                </c:pt>
                <c:pt idx="5">
                  <c:v>17.15</c:v>
                </c:pt>
                <c:pt idx="6">
                  <c:v>17.15</c:v>
                </c:pt>
                <c:pt idx="7">
                  <c:v>17.15</c:v>
                </c:pt>
                <c:pt idx="8">
                  <c:v>17.15</c:v>
                </c:pt>
                <c:pt idx="9">
                  <c:v>17.15</c:v>
                </c:pt>
                <c:pt idx="10">
                  <c:v>17.15</c:v>
                </c:pt>
                <c:pt idx="11">
                  <c:v>17.15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Limite superior</c:v>
                </c:pt>
              </c:strCache>
            </c:strRef>
          </c:tx>
          <c:spPr>
            <a:solidFill>
              <a:srgbClr val="F37021"/>
            </a:solidFill>
            <a:ln w="19050" cap="flat">
              <a:solidFill>
                <a:srgbClr val="F37021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37021"/>
              </a:solidFill>
              <a:ln w="9525" cap="flat">
                <a:solidFill>
                  <a:srgbClr val="F3702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  <c:pt idx="11">
                    <c:v>out/26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17.6</c:v>
                </c:pt>
                <c:pt idx="1">
                  <c:v>17.6</c:v>
                </c:pt>
                <c:pt idx="2">
                  <c:v>17.6</c:v>
                </c:pt>
                <c:pt idx="3">
                  <c:v>17.6</c:v>
                </c:pt>
                <c:pt idx="4">
                  <c:v>17.6</c:v>
                </c:pt>
                <c:pt idx="5">
                  <c:v>17.6</c:v>
                </c:pt>
                <c:pt idx="6">
                  <c:v>17.6</c:v>
                </c:pt>
                <c:pt idx="7">
                  <c:v>17.6</c:v>
                </c:pt>
                <c:pt idx="8">
                  <c:v>17.6</c:v>
                </c:pt>
                <c:pt idx="9">
                  <c:v>17.6</c:v>
                </c:pt>
                <c:pt idx="10">
                  <c:v>17.6</c:v>
                </c:pt>
                <c:pt idx="11">
                  <c:v>17.6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Limite inferior</c:v>
                </c:pt>
              </c:strCache>
            </c:strRef>
          </c:tx>
          <c:spPr>
            <a:solidFill>
              <a:srgbClr val="F37021"/>
            </a:solidFill>
            <a:ln w="19050" cap="flat">
              <a:solidFill>
                <a:srgbClr val="F37021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37021"/>
              </a:solidFill>
              <a:ln w="9525" cap="flat">
                <a:solidFill>
                  <a:srgbClr val="F3702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nov/25</c:v>
                  </c:pt>
                  <c:pt idx="1">
                    <c:v>dez/25</c:v>
                  </c:pt>
                  <c:pt idx="2">
                    <c:v>jan/26</c:v>
                  </c:pt>
                  <c:pt idx="3">
                    <c:v>fev/26</c:v>
                  </c:pt>
                  <c:pt idx="4">
                    <c:v>mar/26</c:v>
                  </c:pt>
                  <c:pt idx="5">
                    <c:v>abr/26</c:v>
                  </c:pt>
                  <c:pt idx="6">
                    <c:v>mai/26</c:v>
                  </c:pt>
                  <c:pt idx="7">
                    <c:v>jun/26</c:v>
                  </c:pt>
                  <c:pt idx="8">
                    <c:v>jul/26</c:v>
                  </c:pt>
                  <c:pt idx="9">
                    <c:v>ago/26</c:v>
                  </c:pt>
                  <c:pt idx="10">
                    <c:v>set/26</c:v>
                  </c:pt>
                  <c:pt idx="11">
                    <c:v>out/26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16.7</c:v>
                </c:pt>
                <c:pt idx="1">
                  <c:v>16.7</c:v>
                </c:pt>
                <c:pt idx="2">
                  <c:v>16.7</c:v>
                </c:pt>
                <c:pt idx="3">
                  <c:v>16.7</c:v>
                </c:pt>
                <c:pt idx="4">
                  <c:v>16.7</c:v>
                </c:pt>
                <c:pt idx="5">
                  <c:v>16.7</c:v>
                </c:pt>
                <c:pt idx="6">
                  <c:v>16.7</c:v>
                </c:pt>
                <c:pt idx="7">
                  <c:v>16.7</c:v>
                </c:pt>
                <c:pt idx="8">
                  <c:v>16.7</c:v>
                </c:pt>
                <c:pt idx="9">
                  <c:v>16.7</c:v>
                </c:pt>
                <c:pt idx="10">
                  <c:v>16.7</c:v>
                </c:pt>
                <c:pt idx="11">
                  <c:v>16.7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D2B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15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1889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principal: a rotina de limpeza periódica dos 5 filtros prensa, implantada em junho/2026, reduziu a umidade da torta de 17,16% (média nov/25–mai/26) para 15,40% em outubro (parcial até 22/10).
Como ler o gráfico: barras cinza-azuladas = meses sem rotina; barras amarelas = meses com a escala de limpeza. Os valores de jan a jun/26 conferem exatamente com o MES (média aritmética mensal); nov e dez/25 foram calculados a partir dos dados diários exportados.
Tendências (regressão linear das médias mensais): antes +0,15 pp/mês (p = 0,019) — o processo piorava mês a mês por colmatação dos tecidos; depois −0,35 pp/mês (p = 0,065; R² = 0,73).
Água: com umidade base úmida w, a água por tonelada de sólido seco é w/(1−w). 17,16% → 207 kg/t; 15,40% → 182 kg/t; diferença de 25 kg de água por tonelada seca (−12%). Esse número permite calcular o ganho em energia/combustível no endurecimento quando aplicado à produção do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ler: a linha cinza é a média dos meses sem rotina (17,15%). As linhas laranja tracejadas são os limites de controle: enquanto o processo está no mesmo patamar, as médias mensais oscilam entre elas. Antes da rotina o processo chegou a passar do limite superior (mar/26, 17,64%). Depois de jun/26 todos os meses ficaram abaixo da média, e julho (16,63%), setembro (16,17%) e outubro (15,40%) abaixo do limite inferior — sinal de que o patamar do processo mudou.
Se perguntarem como foi calculado: os limites usam a variação dia a dia do período nov/25–mai/26 (amplitude móvel; σ = 0,82 pp) para médias de ~30 dias: 17,15 ± 0,45. Teste de Mann-Whitney entre as médias mensais antes e depois: p = 0,024 (significativo a 95%).
Fonte: MES Samarco – PF Elutriação H₂O, média aritmética mensal; out/26 parcial (1 a 22/10).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foi implantado: rota semanal fixa (SEG FP001, TER FP002, QUA FP005, QUI FP003, SEX FP004), com a limpeza feita pela turma do turno do dia, conforme a escala de revezamento. Assim, cada um dos 5 filtros é limpo uma vez por semana.
Por que funciona: a colmatação do tecido filtrante reduz a drenagem e aumenta a água retida na torta. Na partida (nov–dez/25), com tecidos novos, a umidade era 16,57–16,75%; sem limpeza sistemática subiu até 17,64% (mar/26). Com a rotina, caiu abaixo da condição de tecido novo (15,40% em out/26).
Próximos passos: manter a rota como padrão operacional, acompanhar a umidade mês a mês para confirmar o novo patamar e calcular o ganho energético a partir da redução de água na torta.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ARCO_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752452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Samarco · Ponta Ubu · Filtragem – Filtro prensa Elutriação · Outubro/2026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ARCO_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860" y="457200"/>
            <a:ext cx="1752452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Samarco · Ponta Ubu · Filtragem – Filtro prensa Elutriação · Outubro/2026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éu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FILTRO PRENSA ELUTRIAÇÃO · UMIDADE DA TORTA (H₂O)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548640" y="14173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periódica dos filtros prensa reduziu a umidade da torta para 15,4%</a:t>
            </a:r>
            <a:endParaRPr lang="en-US" sz="3200" dirty="0"/>
          </a:p>
        </p:txBody>
      </p:sp>
      <p:sp>
        <p:nvSpPr>
          <p:cNvPr id="4" name="Cartão KPI 1"/>
          <p:cNvSpPr/>
          <p:nvPr/>
        </p:nvSpPr>
        <p:spPr>
          <a:xfrm>
            <a:off x="548640" y="3108960"/>
            <a:ext cx="169164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KPI 1 valor"/>
          <p:cNvSpPr txBox="1"/>
          <p:nvPr/>
        </p:nvSpPr>
        <p:spPr>
          <a:xfrm>
            <a:off x="68580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−1,76 pp</a:t>
            </a:r>
            <a:endParaRPr lang="en-US" sz="2800" dirty="0"/>
          </a:p>
        </p:txBody>
      </p:sp>
      <p:sp>
        <p:nvSpPr>
          <p:cNvPr id="6" name="KPI 1 legenda"/>
          <p:cNvSpPr txBox="1"/>
          <p:nvPr/>
        </p:nvSpPr>
        <p:spPr>
          <a:xfrm>
            <a:off x="685800" y="38404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 umidade: de 17,16% (nov/25–mai/26) para 15,40% em out/26</a:t>
            </a:r>
            <a:endParaRPr lang="en-US" sz="1200" dirty="0"/>
          </a:p>
        </p:txBody>
      </p:sp>
      <p:sp>
        <p:nvSpPr>
          <p:cNvPr id="7" name="Cartão KPI 2"/>
          <p:cNvSpPr/>
          <p:nvPr/>
        </p:nvSpPr>
        <p:spPr>
          <a:xfrm>
            <a:off x="2423160" y="3108960"/>
            <a:ext cx="169164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KPI 2 valor"/>
          <p:cNvSpPr txBox="1"/>
          <p:nvPr/>
        </p:nvSpPr>
        <p:spPr>
          <a:xfrm>
            <a:off x="256032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−10,3%</a:t>
            </a:r>
            <a:endParaRPr lang="en-US" sz="2800" dirty="0"/>
          </a:p>
        </p:txBody>
      </p:sp>
      <p:sp>
        <p:nvSpPr>
          <p:cNvPr id="9" name="KPI 2 legenda"/>
          <p:cNvSpPr txBox="1"/>
          <p:nvPr/>
        </p:nvSpPr>
        <p:spPr>
          <a:xfrm>
            <a:off x="2560320" y="38404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 redução em relação à umidade anterior</a:t>
            </a:r>
            <a:endParaRPr lang="en-US" sz="1200" dirty="0"/>
          </a:p>
        </p:txBody>
      </p:sp>
      <p:sp>
        <p:nvSpPr>
          <p:cNvPr id="10" name="Cartão KPI 3"/>
          <p:cNvSpPr/>
          <p:nvPr/>
        </p:nvSpPr>
        <p:spPr>
          <a:xfrm>
            <a:off x="4297680" y="3108960"/>
            <a:ext cx="169164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KPI 3 valor"/>
          <p:cNvSpPr txBox="1"/>
          <p:nvPr/>
        </p:nvSpPr>
        <p:spPr>
          <a:xfrm>
            <a:off x="443484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−25 kg</a:t>
            </a:r>
            <a:endParaRPr lang="en-US" sz="2800" dirty="0"/>
          </a:p>
        </p:txBody>
      </p:sp>
      <p:sp>
        <p:nvSpPr>
          <p:cNvPr id="12" name="KPI 3 legenda"/>
          <p:cNvSpPr txBox="1"/>
          <p:nvPr/>
        </p:nvSpPr>
        <p:spPr>
          <a:xfrm>
            <a:off x="4434840" y="38404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 água em cada tonelada de concentrado seco</a:t>
            </a:r>
            <a:endParaRPr lang="en-US" sz="1200" dirty="0"/>
          </a:p>
        </p:txBody>
      </p:sp>
      <p:sp>
        <p:nvSpPr>
          <p:cNvPr id="13" name="Mensagem tendência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Antes da rotina, </a:t>
            </a: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umidade subia +0,15 pp/mês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 (colmatação dos tecidos). Com a escala de limpeza a partir de jun/26, 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tendência inverteu: −0,35 pp/mês.</a:t>
            </a:r>
            <a:endParaRPr lang="en-US" sz="1500" dirty="0"/>
          </a:p>
        </p:txBody>
      </p:sp>
      <p:sp>
        <p:nvSpPr>
          <p:cNvPr id="14" name="Título do gráfico"/>
          <p:cNvSpPr txBox="1"/>
          <p:nvPr/>
        </p:nvSpPr>
        <p:spPr>
          <a:xfrm>
            <a:off x="6446520" y="1097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Umidade H₂O – média mensal (%)</a:t>
            </a:r>
            <a:endParaRPr lang="en-US" sz="1300" dirty="0"/>
          </a:p>
        </p:txBody>
      </p:sp>
      <p:graphicFrame>
        <p:nvGraphicFramePr>
          <p:cNvPr id="15" name="Gráfico umidade mensal" descr=""/>
          <p:cNvGraphicFramePr/>
          <p:nvPr/>
        </p:nvGraphicFramePr>
        <p:xfrm>
          <a:off x="6355080" y="1143000"/>
          <a:ext cx="53035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Marco início da rotina"/>
          <p:cNvSpPr/>
          <p:nvPr/>
        </p:nvSpPr>
        <p:spPr>
          <a:xfrm>
            <a:off x="9541612" y="1560424"/>
            <a:ext cx="0" cy="3507638"/>
          </a:xfrm>
          <a:prstGeom prst="line">
            <a:avLst/>
          </a:prstGeom>
          <a:noFill/>
          <a:ln w="15875">
            <a:solidFill>
              <a:schemeClr val="bg1"/>
            </a:solidFill>
            <a:prstDash val="dash"/>
          </a:ln>
        </p:spPr>
      </p:sp>
      <p:sp>
        <p:nvSpPr>
          <p:cNvPr id="17" name="Rótulo antes"/>
          <p:cNvSpPr txBox="1"/>
          <p:nvPr/>
        </p:nvSpPr>
        <p:spPr>
          <a:xfrm>
            <a:off x="6726326" y="1450696"/>
            <a:ext cx="2723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Antes: sem rotina</a:t>
            </a:r>
            <a:endParaRPr lang="en-US" sz="1100" dirty="0"/>
          </a:p>
        </p:txBody>
      </p:sp>
      <p:sp>
        <p:nvSpPr>
          <p:cNvPr id="18" name="Rótulo depois"/>
          <p:cNvSpPr txBox="1"/>
          <p:nvPr/>
        </p:nvSpPr>
        <p:spPr>
          <a:xfrm>
            <a:off x="9633052" y="1450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Com rotina de limpeza</a:t>
            </a:r>
            <a:endParaRPr lang="en-US" sz="1100" dirty="0"/>
          </a:p>
        </p:txBody>
      </p:sp>
      <p:sp>
        <p:nvSpPr>
          <p:cNvPr id="19" name="Nota de fonte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Out/26 parcial (1 a 22/10), valor do MES. Fonte: MES Samarco – PF Elutriação H₂O, média aritmética mensal; nov–dez/25 calculados com os dados diários.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38404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estatisticamente significativa e fora do limite de controle</a:t>
            </a:r>
            <a:endParaRPr lang="en-US" sz="2600" dirty="0"/>
          </a:p>
        </p:txBody>
      </p:sp>
      <p:sp>
        <p:nvSpPr>
          <p:cNvPr id="3" name="Título carta"/>
          <p:cNvSpPr txBox="1"/>
          <p:nvPr/>
        </p:nvSpPr>
        <p:spPr>
          <a:xfrm>
            <a:off x="54864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Umidade H₂O – média mensal (%)</a:t>
            </a:r>
            <a:endParaRPr lang="en-US" sz="1300" dirty="0"/>
          </a:p>
        </p:txBody>
      </p:sp>
      <p:graphicFrame>
        <p:nvGraphicFramePr>
          <p:cNvPr id="4" name="Carta de controle" descr=""/>
          <p:cNvGraphicFramePr/>
          <p:nvPr/>
        </p:nvGraphicFramePr>
        <p:xfrm>
          <a:off x="411480" y="1417320"/>
          <a:ext cx="7726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Marco início da rotina"/>
          <p:cNvSpPr/>
          <p:nvPr/>
        </p:nvSpPr>
        <p:spPr>
          <a:xfrm>
            <a:off x="4377842" y="1737360"/>
            <a:ext cx="0" cy="37490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ysDash"/>
          </a:ln>
        </p:spPr>
      </p:sp>
      <p:sp>
        <p:nvSpPr>
          <p:cNvPr id="6" name="Rótulo marco"/>
          <p:cNvSpPr txBox="1"/>
          <p:nvPr/>
        </p:nvSpPr>
        <p:spPr>
          <a:xfrm>
            <a:off x="4450994" y="17190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Início da rotina de limpeza</a:t>
            </a:r>
            <a:endParaRPr lang="en-US" sz="1100" dirty="0"/>
          </a:p>
        </p:txBody>
      </p:sp>
      <p:sp>
        <p:nvSpPr>
          <p:cNvPr id="7" name="Rótulo Limite superior"/>
          <p:cNvSpPr txBox="1"/>
          <p:nvPr/>
        </p:nvSpPr>
        <p:spPr>
          <a:xfrm>
            <a:off x="6934352" y="21153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Limite superior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17,60%</a:t>
            </a:r>
            <a:endParaRPr lang="en-US" sz="1100" dirty="0"/>
          </a:p>
        </p:txBody>
      </p:sp>
      <p:sp>
        <p:nvSpPr>
          <p:cNvPr id="8" name="Rótulo Média antes"/>
          <p:cNvSpPr txBox="1"/>
          <p:nvPr/>
        </p:nvSpPr>
        <p:spPr>
          <a:xfrm>
            <a:off x="6934352" y="26639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Média antes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17,15%</a:t>
            </a:r>
            <a:endParaRPr lang="en-US" sz="1100" dirty="0"/>
          </a:p>
        </p:txBody>
      </p:sp>
      <p:sp>
        <p:nvSpPr>
          <p:cNvPr id="9" name="Rótulo Limite inferior"/>
          <p:cNvSpPr txBox="1"/>
          <p:nvPr/>
        </p:nvSpPr>
        <p:spPr>
          <a:xfrm>
            <a:off x="6934352" y="32125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Limite inferior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16,70%</a:t>
            </a:r>
            <a:endParaRPr lang="en-US" sz="1100" dirty="0"/>
          </a:p>
        </p:txBody>
      </p:sp>
      <p:graphicFrame>
        <p:nvGraphicFramePr>
          <p:cNvPr id="3" name="Tabela antes x depoi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417320"/>
          <a:ext cx="3273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33856"/>
                <a:gridCol w="1133856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Antes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nov/25–mai/26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 rotina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jun–out/26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Média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17,16%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16,41%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Menor mês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16,57%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15,40%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Maior mês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17,64%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16,93%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Tendência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subindo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caindo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1" name="Painel leitura"/>
          <p:cNvSpPr/>
          <p:nvPr/>
        </p:nvSpPr>
        <p:spPr>
          <a:xfrm>
            <a:off x="8366760" y="3657600"/>
            <a:ext cx="3273552" cy="2148840"/>
          </a:xfrm>
          <a:prstGeom prst="roundRect">
            <a:avLst>
              <a:gd name="adj" fmla="val 34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Chapéu leitura"/>
          <p:cNvSpPr txBox="1"/>
          <p:nvPr/>
        </p:nvSpPr>
        <p:spPr>
          <a:xfrm>
            <a:off x="8595360" y="384048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O GRÁFICO MOSTRA</a:t>
            </a:r>
            <a:endParaRPr lang="en-US" sz="1100" dirty="0"/>
          </a:p>
        </p:txBody>
      </p:sp>
      <p:sp>
        <p:nvSpPr>
          <p:cNvPr id="13" name="Texto leitura"/>
          <p:cNvSpPr txBox="1"/>
          <p:nvPr/>
        </p:nvSpPr>
        <p:spPr>
          <a:xfrm>
            <a:off x="8595360" y="420624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Com a rotina, todos os meses ficaram abaixo da média anterior.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Julho, setembro e outubro ficaram abaixo do limite inferior: a queda não é variação normal do processo.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38404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de limpeza implantada gerou a redução da umidade</a:t>
            </a:r>
            <a:endParaRPr lang="en-US" sz="2600" dirty="0"/>
          </a:p>
        </p:txBody>
      </p:sp>
      <p:sp>
        <p:nvSpPr>
          <p:cNvPr id="3" name="Painel o que foi implantado"/>
          <p:cNvSpPr/>
          <p:nvPr/>
        </p:nvSpPr>
        <p:spPr>
          <a:xfrm>
            <a:off x="548640" y="1417320"/>
            <a:ext cx="457200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hapéu implantado"/>
          <p:cNvSpPr txBox="1"/>
          <p:nvPr/>
        </p:nvSpPr>
        <p:spPr>
          <a:xfrm>
            <a:off x="822960" y="1645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O QUE FOI IMPLANTADO EM JUN/26</a:t>
            </a:r>
            <a:endParaRPr lang="en-US" sz="1200" dirty="0"/>
          </a:p>
        </p:txBody>
      </p:sp>
      <p:pic>
        <p:nvPicPr>
          <p:cNvPr id="5" name="Ícone açã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65760" cy="365760"/>
          </a:xfrm>
          <a:prstGeom prst="rect">
            <a:avLst/>
          </a:prstGeom>
        </p:spPr>
      </p:pic>
      <p:sp>
        <p:nvSpPr>
          <p:cNvPr id="6" name="Texto ação 1"/>
          <p:cNvSpPr txBox="1"/>
          <p:nvPr/>
        </p:nvSpPr>
        <p:spPr>
          <a:xfrm>
            <a:off x="13716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Rota fixa de limpeza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filtro por dia útil, sempre na mesma sequência</a:t>
            </a:r>
            <a:endParaRPr lang="en-US" sz="1500" dirty="0"/>
          </a:p>
        </p:txBody>
      </p:sp>
      <p:pic>
        <p:nvPicPr>
          <p:cNvPr id="7" name="Ícone açã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52928"/>
            <a:ext cx="365760" cy="365760"/>
          </a:xfrm>
          <a:prstGeom prst="rect">
            <a:avLst/>
          </a:prstGeom>
        </p:spPr>
      </p:pic>
      <p:sp>
        <p:nvSpPr>
          <p:cNvPr id="8" name="Texto ação 2"/>
          <p:cNvSpPr txBox="1"/>
          <p:nvPr/>
        </p:nvSpPr>
        <p:spPr>
          <a:xfrm>
            <a:off x="1371600" y="280720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Responsável em cada turno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Limpeza feita pela turma do dia, conforme a escala</a:t>
            </a:r>
            <a:endParaRPr lang="en-US" sz="1500" dirty="0"/>
          </a:p>
        </p:txBody>
      </p:sp>
      <p:pic>
        <p:nvPicPr>
          <p:cNvPr id="9" name="Ícone açã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02736"/>
            <a:ext cx="365760" cy="365760"/>
          </a:xfrm>
          <a:prstGeom prst="rect">
            <a:avLst/>
          </a:prstGeom>
        </p:spPr>
      </p:pic>
      <p:sp>
        <p:nvSpPr>
          <p:cNvPr id="10" name="Texto ação 3"/>
          <p:cNvSpPr txBox="1"/>
          <p:nvPr/>
        </p:nvSpPr>
        <p:spPr>
          <a:xfrm>
            <a:off x="1371600" y="35570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Todos os 5 filtros, toda semana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Nenhum filtro fica mais de uma semana sem limpeza</a:t>
            </a:r>
            <a:endParaRPr lang="en-US" sz="1500" dirty="0"/>
          </a:p>
        </p:txBody>
      </p:sp>
      <p:sp>
        <p:nvSpPr>
          <p:cNvPr id="11" name="Rota SEG"/>
          <p:cNvSpPr/>
          <p:nvPr/>
        </p:nvSpPr>
        <p:spPr>
          <a:xfrm>
            <a:off x="822960" y="4526280"/>
            <a:ext cx="731520" cy="86868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o rota SEG"/>
          <p:cNvSpPr txBox="1"/>
          <p:nvPr/>
        </p:nvSpPr>
        <p:spPr>
          <a:xfrm>
            <a:off x="822960" y="46177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SEG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FP001</a:t>
            </a:r>
            <a:endParaRPr lang="en-US" sz="1100" dirty="0"/>
          </a:p>
        </p:txBody>
      </p:sp>
      <p:sp>
        <p:nvSpPr>
          <p:cNvPr id="13" name="Rota TER"/>
          <p:cNvSpPr/>
          <p:nvPr/>
        </p:nvSpPr>
        <p:spPr>
          <a:xfrm>
            <a:off x="1645920" y="4526280"/>
            <a:ext cx="731520" cy="86868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o rota TER"/>
          <p:cNvSpPr txBox="1"/>
          <p:nvPr/>
        </p:nvSpPr>
        <p:spPr>
          <a:xfrm>
            <a:off x="1645920" y="46177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TER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FP002</a:t>
            </a:r>
            <a:endParaRPr lang="en-US" sz="1100" dirty="0"/>
          </a:p>
        </p:txBody>
      </p:sp>
      <p:sp>
        <p:nvSpPr>
          <p:cNvPr id="15" name="Rota QUA"/>
          <p:cNvSpPr/>
          <p:nvPr/>
        </p:nvSpPr>
        <p:spPr>
          <a:xfrm>
            <a:off x="2468880" y="4526280"/>
            <a:ext cx="731520" cy="86868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o rota QUA"/>
          <p:cNvSpPr txBox="1"/>
          <p:nvPr/>
        </p:nvSpPr>
        <p:spPr>
          <a:xfrm>
            <a:off x="2468880" y="46177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QUA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FP005</a:t>
            </a:r>
            <a:endParaRPr lang="en-US" sz="1100" dirty="0"/>
          </a:p>
        </p:txBody>
      </p:sp>
      <p:sp>
        <p:nvSpPr>
          <p:cNvPr id="17" name="Rota QUI"/>
          <p:cNvSpPr/>
          <p:nvPr/>
        </p:nvSpPr>
        <p:spPr>
          <a:xfrm>
            <a:off x="3291840" y="4526280"/>
            <a:ext cx="731520" cy="86868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Texto rota QUI"/>
          <p:cNvSpPr txBox="1"/>
          <p:nvPr/>
        </p:nvSpPr>
        <p:spPr>
          <a:xfrm>
            <a:off x="3291840" y="46177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QUI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FP003</a:t>
            </a:r>
            <a:endParaRPr lang="en-US" sz="1100" dirty="0"/>
          </a:p>
        </p:txBody>
      </p:sp>
      <p:sp>
        <p:nvSpPr>
          <p:cNvPr id="19" name="Rota SEX"/>
          <p:cNvSpPr/>
          <p:nvPr/>
        </p:nvSpPr>
        <p:spPr>
          <a:xfrm>
            <a:off x="4114800" y="4526280"/>
            <a:ext cx="731520" cy="86868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o rota SEX"/>
          <p:cNvSpPr txBox="1"/>
          <p:nvPr/>
        </p:nvSpPr>
        <p:spPr>
          <a:xfrm>
            <a:off x="4114800" y="46177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SEX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FP004</a:t>
            </a:r>
            <a:endParaRPr lang="en-US" sz="1100" dirty="0"/>
          </a:p>
        </p:txBody>
      </p:sp>
      <p:pic>
        <p:nvPicPr>
          <p:cNvPr id="21" name="Foto torta de filtragem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417320"/>
            <a:ext cx="2514600" cy="2148328"/>
          </a:xfrm>
          <a:prstGeom prst="rect">
            <a:avLst/>
          </a:prstGeom>
        </p:spPr>
      </p:pic>
      <p:pic>
        <p:nvPicPr>
          <p:cNvPr id="22" name="Ícone go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3657600"/>
            <a:ext cx="329184" cy="329184"/>
          </a:xfrm>
          <a:prstGeom prst="rect">
            <a:avLst/>
          </a:prstGeom>
        </p:spPr>
      </p:pic>
      <p:sp>
        <p:nvSpPr>
          <p:cNvPr id="23" name="Título por que funciona"/>
          <p:cNvSpPr txBox="1"/>
          <p:nvPr/>
        </p:nvSpPr>
        <p:spPr>
          <a:xfrm>
            <a:off x="5897880" y="36576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Por que funciona</a:t>
            </a:r>
            <a:endParaRPr lang="en-US" sz="1600" dirty="0"/>
          </a:p>
        </p:txBody>
      </p:sp>
      <p:sp>
        <p:nvSpPr>
          <p:cNvPr id="24" name="Texto por que funciona"/>
          <p:cNvSpPr txBox="1"/>
          <p:nvPr/>
        </p:nvSpPr>
        <p:spPr>
          <a:xfrm>
            <a:off x="5440680" y="411480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Tecido limpo drena melhor e a torta sai com menos água. Com tecidos novos (nov–dez/25) a umidade era 16,6–16,8%; sem limpeza, chegou a 17,6% em mar/26. A rotina recuperou e superou a condição de tecido novo.</a:t>
            </a:r>
            <a:endParaRPr lang="en-US" sz="1400" dirty="0"/>
          </a:p>
        </p:txBody>
      </p:sp>
      <p:pic>
        <p:nvPicPr>
          <p:cNvPr id="25" name="Ícone alv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1417320"/>
            <a:ext cx="329184" cy="329184"/>
          </a:xfrm>
          <a:prstGeom prst="rect">
            <a:avLst/>
          </a:prstGeom>
        </p:spPr>
      </p:pic>
      <p:sp>
        <p:nvSpPr>
          <p:cNvPr id="26" name="Título próximos passos"/>
          <p:cNvSpPr txBox="1"/>
          <p:nvPr/>
        </p:nvSpPr>
        <p:spPr>
          <a:xfrm>
            <a:off x="9144000" y="1417320"/>
            <a:ext cx="2496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Próximos passos</a:t>
            </a:r>
            <a:endParaRPr lang="en-US" sz="1600" dirty="0"/>
          </a:p>
        </p:txBody>
      </p:sp>
      <p:sp>
        <p:nvSpPr>
          <p:cNvPr id="27" name="Número passo 1"/>
          <p:cNvSpPr/>
          <p:nvPr/>
        </p:nvSpPr>
        <p:spPr>
          <a:xfrm>
            <a:off x="8686800" y="202996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o número 1"/>
          <p:cNvSpPr txBox="1"/>
          <p:nvPr/>
        </p:nvSpPr>
        <p:spPr>
          <a:xfrm>
            <a:off x="868680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29" name="Texto passo 1"/>
          <p:cNvSpPr txBox="1"/>
          <p:nvPr/>
        </p:nvSpPr>
        <p:spPr>
          <a:xfrm>
            <a:off x="9144000" y="2011680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Manter a rota como padrão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Incluir em procedimento operacional</a:t>
            </a:r>
            <a:endParaRPr lang="en-US" sz="1400" dirty="0"/>
          </a:p>
        </p:txBody>
      </p:sp>
      <p:sp>
        <p:nvSpPr>
          <p:cNvPr id="30" name="Número passo 2"/>
          <p:cNvSpPr/>
          <p:nvPr/>
        </p:nvSpPr>
        <p:spPr>
          <a:xfrm>
            <a:off x="8686800" y="308152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o número 2"/>
          <p:cNvSpPr txBox="1"/>
          <p:nvPr/>
        </p:nvSpPr>
        <p:spPr>
          <a:xfrm>
            <a:off x="8686800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32" name="Texto passo 2"/>
          <p:cNvSpPr txBox="1"/>
          <p:nvPr/>
        </p:nvSpPr>
        <p:spPr>
          <a:xfrm>
            <a:off x="9144000" y="3063240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Acompanhar a umidade mensal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Confirmar o novo patamar</a:t>
            </a:r>
            <a:endParaRPr lang="en-US" sz="1400" dirty="0"/>
          </a:p>
        </p:txBody>
      </p:sp>
      <p:sp>
        <p:nvSpPr>
          <p:cNvPr id="33" name="Número passo 3"/>
          <p:cNvSpPr/>
          <p:nvPr/>
        </p:nvSpPr>
        <p:spPr>
          <a:xfrm>
            <a:off x="8686800" y="413308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o número 3"/>
          <p:cNvSpPr txBox="1"/>
          <p:nvPr/>
        </p:nvSpPr>
        <p:spPr>
          <a:xfrm>
            <a:off x="8686800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35" name="Texto passo 3"/>
          <p:cNvSpPr txBox="1"/>
          <p:nvPr/>
        </p:nvSpPr>
        <p:spPr>
          <a:xfrm>
            <a:off x="9144000" y="4114800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Valorar o ganho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Menos água na torta = menos energia no forno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marco">
  <a:themeElements>
    <a:clrScheme name="Samarco">
      <a:dk1>
        <a:srgbClr val="1D2B36"/>
      </a:dk1>
      <a:lt1>
        <a:srgbClr val="FFFFFF"/>
      </a:lt1>
      <a:dk2>
        <a:srgbClr val="00335A"/>
      </a:dk2>
      <a:lt2>
        <a:srgbClr val="F3F5F7"/>
      </a:lt2>
      <a:accent1>
        <a:srgbClr val="00335A"/>
      </a:accent1>
      <a:accent2>
        <a:srgbClr val="FFC000"/>
      </a:accent2>
      <a:accent3>
        <a:srgbClr val="59C6F2"/>
      </a:accent3>
      <a:accent4>
        <a:srgbClr val="F37021"/>
      </a:accent4>
      <a:accent5>
        <a:srgbClr val="61889B"/>
      </a:accent5>
      <a:accent6>
        <a:srgbClr val="B5BEC4"/>
      </a:accent6>
      <a:hlink>
        <a:srgbClr val="004070"/>
      </a:hlink>
      <a:folHlink>
        <a:srgbClr val="61889B"/>
      </a:folHlink>
    </a:clrScheme>
    <a:fontScheme name="Samarc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Samarco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Umidade da torta do filtro prensa – ganhos com a rotina de limpeza</dc:title>
  <dc:subject>PptxGenJS Presentation</dc:subject>
  <dc:creator>Samarco – Ponta Ubu</dc:creator>
  <cp:lastModifiedBy>Samarco – Ponta Ubu</cp:lastModifiedBy>
  <cp:revision>1</cp:revision>
  <dcterms:created xsi:type="dcterms:W3CDTF">2026-10-22T15:36:36Z</dcterms:created>
  <dcterms:modified xsi:type="dcterms:W3CDTF">2026-10-22T15:36:36Z</dcterms:modified>
</cp:coreProperties>
</file>