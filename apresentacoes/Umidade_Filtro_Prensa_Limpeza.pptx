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ltado" id="{7b4dd969-40b7-a251-1666-e93b28633236}">
          <p14:sldIdLst>
            <p14:sldId id="256"/>
          </p14:sldIdLst>
        </p14:section>
        <p14:section name="Evidência estatística" id="{073555ff-e59a-71c3-ed1c-6bbb01941d36}">
          <p14:sldIdLst>
            <p14:sldId id="257"/>
          </p14:sldIdLst>
        </p14:section>
        <p14:section name="Ações e próximos passos" id="{52b18df9-252c-0735-d3cc-eec13776c03a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7"/>
          <c:y val="0.13"/>
          <c:w val="0.91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Umidade H₂O (%)</c:v>
                </c:pt>
              </c:strCache>
            </c:strRef>
          </c:tx>
          <c:spPr>
            <a:solidFill>
              <a:srgbClr val="61889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188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188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188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188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188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1889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1889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nov/25</c:v>
                  </c:pt>
                  <c:pt idx="1">
                    <c:v>dez/25</c:v>
                  </c:pt>
                  <c:pt idx="2">
                    <c:v>jan/26</c:v>
                  </c:pt>
                  <c:pt idx="3">
                    <c:v>fev/26</c:v>
                  </c:pt>
                  <c:pt idx="4">
                    <c:v>mar/26</c:v>
                  </c:pt>
                  <c:pt idx="5">
                    <c:v>abr/26</c:v>
                  </c:pt>
                  <c:pt idx="6">
                    <c:v>mai/26</c:v>
                  </c:pt>
                  <c:pt idx="7">
                    <c:v>jun/26</c:v>
                  </c:pt>
                  <c:pt idx="8">
                    <c:v>jul/26</c:v>
                  </c:pt>
                  <c:pt idx="9">
                    <c:v>ago/26</c:v>
                  </c:pt>
                  <c:pt idx="10">
                    <c:v>set/26</c:v>
                  </c:pt>
                  <c:pt idx="11">
                    <c:v>out/26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16.75</c:v>
                </c:pt>
                <c:pt idx="1">
                  <c:v>16.57</c:v>
                </c:pt>
                <c:pt idx="2">
                  <c:v>17.16</c:v>
                </c:pt>
                <c:pt idx="3">
                  <c:v>17.23</c:v>
                </c:pt>
                <c:pt idx="4">
                  <c:v>17.64</c:v>
                </c:pt>
                <c:pt idx="5">
                  <c:v>17.28</c:v>
                </c:pt>
                <c:pt idx="6">
                  <c:v>17.51</c:v>
                </c:pt>
                <c:pt idx="7">
                  <c:v>16.9</c:v>
                </c:pt>
                <c:pt idx="8">
                  <c:v>16.63</c:v>
                </c:pt>
                <c:pt idx="9">
                  <c:v>16.93</c:v>
                </c:pt>
                <c:pt idx="10">
                  <c:v>16.17</c:v>
                </c:pt>
                <c:pt idx="11">
                  <c:v>15.4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.5"/>
          <c:min val="14"/>
        </c:scaling>
        <c:delete val="0"/>
        <c:axPos val="l"/>
        <c:majorGridlines>
          <c:spPr>
            <a:ln w="6350" cap="flat">
              <a:solidFill>
                <a:srgbClr val="00335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5BEC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1"/>
          <c:w val="0.9"/>
          <c:h val="0.6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Umidade mensal (%)</c:v>
                </c:pt>
              </c:strCache>
            </c:strRef>
          </c:tx>
          <c:spPr>
            <a:solidFill>
              <a:srgbClr val="00335A"/>
            </a:solidFill>
            <a:ln w="31750" cap="flat">
              <a:solidFill>
                <a:srgbClr val="00335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335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0335A"/>
              </a:solidFill>
              <a:ln w="9525" cap="flat">
                <a:solidFill>
                  <a:srgbClr val="0033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nov/25</c:v>
                  </c:pt>
                  <c:pt idx="1">
                    <c:v>dez/25</c:v>
                  </c:pt>
                  <c:pt idx="2">
                    <c:v>jan/26</c:v>
                  </c:pt>
                  <c:pt idx="3">
                    <c:v>fev/26</c:v>
                  </c:pt>
                  <c:pt idx="4">
                    <c:v>mar/26</c:v>
                  </c:pt>
                  <c:pt idx="5">
                    <c:v>abr/26</c:v>
                  </c:pt>
                  <c:pt idx="6">
                    <c:v>mai/26</c:v>
                  </c:pt>
                  <c:pt idx="7">
                    <c:v>jun/26</c:v>
                  </c:pt>
                  <c:pt idx="8">
                    <c:v>jul/26</c:v>
                  </c:pt>
                  <c:pt idx="9">
                    <c:v>ago/26</c:v>
                  </c:pt>
                  <c:pt idx="10">
                    <c:v>set/26</c:v>
                  </c:pt>
                  <c:pt idx="11">
                    <c:v>out/26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16.75</c:v>
                </c:pt>
                <c:pt idx="1">
                  <c:v>16.57</c:v>
                </c:pt>
                <c:pt idx="2">
                  <c:v>17.16</c:v>
                </c:pt>
                <c:pt idx="3">
                  <c:v>17.23</c:v>
                </c:pt>
                <c:pt idx="4">
                  <c:v>17.64</c:v>
                </c:pt>
                <c:pt idx="5">
                  <c:v>17.28</c:v>
                </c:pt>
                <c:pt idx="6">
                  <c:v>17.51</c:v>
                </c:pt>
                <c:pt idx="7">
                  <c:v>16.9</c:v>
                </c:pt>
                <c:pt idx="8">
                  <c:v>16.63</c:v>
                </c:pt>
                <c:pt idx="9">
                  <c:v>16.93</c:v>
                </c:pt>
                <c:pt idx="10">
                  <c:v>16.17</c:v>
                </c:pt>
                <c:pt idx="11">
                  <c:v>15.4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00335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LC 17,15</c:v>
                </c:pt>
              </c:strCache>
            </c:strRef>
          </c:tx>
          <c:spPr>
            <a:solidFill>
              <a:srgbClr val="61889B"/>
            </a:solidFill>
            <a:ln w="19050" cap="flat">
              <a:solidFill>
                <a:srgbClr val="6188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1889B"/>
              </a:solidFill>
              <a:ln w="9525" cap="flat">
                <a:solidFill>
                  <a:srgbClr val="6188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nov/25</c:v>
                  </c:pt>
                  <c:pt idx="1">
                    <c:v>dez/25</c:v>
                  </c:pt>
                  <c:pt idx="2">
                    <c:v>jan/26</c:v>
                  </c:pt>
                  <c:pt idx="3">
                    <c:v>fev/26</c:v>
                  </c:pt>
                  <c:pt idx="4">
                    <c:v>mar/26</c:v>
                  </c:pt>
                  <c:pt idx="5">
                    <c:v>abr/26</c:v>
                  </c:pt>
                  <c:pt idx="6">
                    <c:v>mai/26</c:v>
                  </c:pt>
                  <c:pt idx="7">
                    <c:v>jun/26</c:v>
                  </c:pt>
                  <c:pt idx="8">
                    <c:v>jul/26</c:v>
                  </c:pt>
                  <c:pt idx="9">
                    <c:v>ago/26</c:v>
                  </c:pt>
                  <c:pt idx="10">
                    <c:v>set/26</c:v>
                  </c:pt>
                  <c:pt idx="11">
                    <c:v>out/26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17.15</c:v>
                </c:pt>
                <c:pt idx="1">
                  <c:v>17.15</c:v>
                </c:pt>
                <c:pt idx="2">
                  <c:v>17.15</c:v>
                </c:pt>
                <c:pt idx="3">
                  <c:v>17.15</c:v>
                </c:pt>
                <c:pt idx="4">
                  <c:v>17.15</c:v>
                </c:pt>
                <c:pt idx="5">
                  <c:v>17.15</c:v>
                </c:pt>
                <c:pt idx="6">
                  <c:v>17.15</c:v>
                </c:pt>
                <c:pt idx="7">
                  <c:v>17.15</c:v>
                </c:pt>
                <c:pt idx="8">
                  <c:v>17.15</c:v>
                </c:pt>
                <c:pt idx="9">
                  <c:v>17.15</c:v>
                </c:pt>
                <c:pt idx="10">
                  <c:v>17.15</c:v>
                </c:pt>
                <c:pt idx="11">
                  <c:v>17.15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LSC 17,60</c:v>
                </c:pt>
              </c:strCache>
            </c:strRef>
          </c:tx>
          <c:spPr>
            <a:solidFill>
              <a:srgbClr val="F37021"/>
            </a:solidFill>
            <a:ln w="19050" cap="flat">
              <a:solidFill>
                <a:srgbClr val="F37021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37021"/>
              </a:solidFill>
              <a:ln w="9525" cap="flat">
                <a:solidFill>
                  <a:srgbClr val="F370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nov/25</c:v>
                  </c:pt>
                  <c:pt idx="1">
                    <c:v>dez/25</c:v>
                  </c:pt>
                  <c:pt idx="2">
                    <c:v>jan/26</c:v>
                  </c:pt>
                  <c:pt idx="3">
                    <c:v>fev/26</c:v>
                  </c:pt>
                  <c:pt idx="4">
                    <c:v>mar/26</c:v>
                  </c:pt>
                  <c:pt idx="5">
                    <c:v>abr/26</c:v>
                  </c:pt>
                  <c:pt idx="6">
                    <c:v>mai/26</c:v>
                  </c:pt>
                  <c:pt idx="7">
                    <c:v>jun/26</c:v>
                  </c:pt>
                  <c:pt idx="8">
                    <c:v>jul/26</c:v>
                  </c:pt>
                  <c:pt idx="9">
                    <c:v>ago/26</c:v>
                  </c:pt>
                  <c:pt idx="10">
                    <c:v>set/26</c:v>
                  </c:pt>
                  <c:pt idx="11">
                    <c:v>out/26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17.6</c:v>
                </c:pt>
                <c:pt idx="1">
                  <c:v>17.6</c:v>
                </c:pt>
                <c:pt idx="2">
                  <c:v>17.6</c:v>
                </c:pt>
                <c:pt idx="3">
                  <c:v>17.6</c:v>
                </c:pt>
                <c:pt idx="4">
                  <c:v>17.6</c:v>
                </c:pt>
                <c:pt idx="5">
                  <c:v>17.6</c:v>
                </c:pt>
                <c:pt idx="6">
                  <c:v>17.6</c:v>
                </c:pt>
                <c:pt idx="7">
                  <c:v>17.6</c:v>
                </c:pt>
                <c:pt idx="8">
                  <c:v>17.6</c:v>
                </c:pt>
                <c:pt idx="9">
                  <c:v>17.6</c:v>
                </c:pt>
                <c:pt idx="10">
                  <c:v>17.6</c:v>
                </c:pt>
                <c:pt idx="11">
                  <c:v>17.6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LIC 16,70</c:v>
                </c:pt>
              </c:strCache>
            </c:strRef>
          </c:tx>
          <c:spPr>
            <a:solidFill>
              <a:srgbClr val="F37021"/>
            </a:solidFill>
            <a:ln w="19050" cap="flat">
              <a:solidFill>
                <a:srgbClr val="F37021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37021"/>
              </a:solidFill>
              <a:ln w="9525" cap="flat">
                <a:solidFill>
                  <a:srgbClr val="F370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nov/25</c:v>
                  </c:pt>
                  <c:pt idx="1">
                    <c:v>dez/25</c:v>
                  </c:pt>
                  <c:pt idx="2">
                    <c:v>jan/26</c:v>
                  </c:pt>
                  <c:pt idx="3">
                    <c:v>fev/26</c:v>
                  </c:pt>
                  <c:pt idx="4">
                    <c:v>mar/26</c:v>
                  </c:pt>
                  <c:pt idx="5">
                    <c:v>abr/26</c:v>
                  </c:pt>
                  <c:pt idx="6">
                    <c:v>mai/26</c:v>
                  </c:pt>
                  <c:pt idx="7">
                    <c:v>jun/26</c:v>
                  </c:pt>
                  <c:pt idx="8">
                    <c:v>jul/26</c:v>
                  </c:pt>
                  <c:pt idx="9">
                    <c:v>ago/26</c:v>
                  </c:pt>
                  <c:pt idx="10">
                    <c:v>set/26</c:v>
                  </c:pt>
                  <c:pt idx="11">
                    <c:v>out/26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16.7</c:v>
                </c:pt>
                <c:pt idx="1">
                  <c:v>16.7</c:v>
                </c:pt>
                <c:pt idx="2">
                  <c:v>16.7</c:v>
                </c:pt>
                <c:pt idx="3">
                  <c:v>16.7</c:v>
                </c:pt>
                <c:pt idx="4">
                  <c:v>16.7</c:v>
                </c:pt>
                <c:pt idx="5">
                  <c:v>16.7</c:v>
                </c:pt>
                <c:pt idx="6">
                  <c:v>16.7</c:v>
                </c:pt>
                <c:pt idx="7">
                  <c:v>16.7</c:v>
                </c:pt>
                <c:pt idx="8">
                  <c:v>16.7</c:v>
                </c:pt>
                <c:pt idx="9">
                  <c:v>16.7</c:v>
                </c:pt>
                <c:pt idx="10">
                  <c:v>16.7</c:v>
                </c:pt>
                <c:pt idx="11">
                  <c:v>16.7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D2B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15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1889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D2B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principal: a rotina de limpeza periódica dos 5 filtros prensa, implantada em junho/2026, reduziu a umidade da torta de 17,16% (média nov/25–mai/26) para 15,40% em outubro (parcial até 22/10).
Como ler o gráfico: barras cinza-azuladas = meses sem rotina; barras amarelas = meses com a escala de limpeza. Os valores de jan a jun/26 conferem exatamente com o MES (média aritmética mensal); nov e dez/25 foram calculados a partir dos dados diários exportados.
Tendências (regressão linear das médias mensais): antes +0,15 pp/mês (p = 0,019) — o processo piorava mês a mês por colmatação dos tecidos; depois −0,35 pp/mês (p = 0,065; R² = 0,73).
Água: com umidade base úmida w, a água por tonelada de sólido seco é w/(1−w). 17,16% → 207 kg/t; 15,40% → 182 kg/t; diferença de 25 kg de água por tonelada seca (−12%). Esse número permite calcular o ganho em energia/combustível no endurecimento quando aplicado à produção do período.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Carta de controle: a linha central (LC = 17,15%) e os limites (LSC = 17,60%, LIC = 16,70%) foram calculados apenas com o período sem rotina (nov/25–mai/26, 204 dias). O desvio de curto prazo foi estimado pela amplitude móvel média (MR/1,128 = 0,82 pp) e os limites das médias mensais usam n ≈ 30 dias (3σ/√30 = 0,45 pp).
Leitura: antes da rotina o processo subia (mar/26 chegou a 17,64%, acima do LSC). Depois de jun/26 todos os 5 meses ficaram abaixo da LC; jul (16,63), set (16,17) e out (15,40) abaixo do LIC. Pelas regras de Western Electric, '4 de 5 pontos além de 1σ' e '2 de 3 além de 2σ' indicam mudança real de patamar — não é variação aleatória.
Testes de hipótese com as médias mensais (H1: umidade com rotina &lt; umidade sem rotina): Mann-Whitney unilateral p = 0,024 (significativo a 95%); t de Welch p = 0,056. Usando como base só jan–mai/26 (após a partida dos filtros): Mann-Whitney p = 0,004 e Welch p = 0,026.
Dados diários (nov/25 a 08/07/26): antes 204 dias, média 17,15%, desvio 0,97; jun–08/jul 38 dias, média 16,88%. Mann-Whitney unilateral p = 0,028. Observação: o arquivo .xls exportado só traz até 08/07/26 (limite de 256 colunas do formato), por isso a comparação mensal usa os valores do MES para jul–out.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foi feito: rota semanal fixa (SEG FP001, TER FP002, QUA FP005, QUI FP003, SEX FP004); a limpeza é responsabilidade da letra que está no turno 1 (07–19h) no dia, conforme a escala de revezamento 2026–2030; o cumprimento é acompanhado mensalmente no painel HTML de gestão da limpeza (previstas × realizadas, aderência por letra e ranking de operadores).
Mecanismo: a colmatação do tecido filtrante reduz a permeabilidade e a eficiência do sopro/drenagem, aumentando a umidade residual da torta. Na partida (nov–dez/25), com tecidos novos, a umidade era 16,57–16,75%; sem limpeza sistemática ela subiu até 17,64% (mar/26). Com a rotina, a umidade caiu abaixo inclusive da condição de tecido novo.
Oportunidade: o ganho foi obtido mesmo com aderência parcial à rota (setembro 41%, outubro 67% até 22/10). Atingir ≥ 90% tende a consolidar e ampliar o resultado.
Cuidados na interpretação: em 01/08/26 foi feita a troca geral de 31 tecidos do FP001, que também reduz a umidade; outubro é parcial; outras variáveis de processo não foram controladas. Recomenda-se repetir a análise ao fechar out/26 e nov/26.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ARCO_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752452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Samarco · Ponta Ubu · Filtragem – Filtro prensa Elutriação · Outubro/2026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ARCO_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860" y="457200"/>
            <a:ext cx="1752452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Samarco · Ponta Ubu · Filtragem – Filtro prensa Elutriação · Outubro/2026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éu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FILTRO PRENSA ELUTRIAÇÃO · UMIDADE DA TORTA (H₂O)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1417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periódica dos filtros prensa reduziu a umidade da torta para 15,4%</a:t>
            </a:r>
            <a:endParaRPr lang="en-US" sz="3200" dirty="0"/>
          </a:p>
        </p:txBody>
      </p:sp>
      <p:sp>
        <p:nvSpPr>
          <p:cNvPr id="4" name="Cartão KPI 1"/>
          <p:cNvSpPr/>
          <p:nvPr/>
        </p:nvSpPr>
        <p:spPr>
          <a:xfrm>
            <a:off x="548640" y="310896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KPI 1 valor"/>
          <p:cNvSpPr txBox="1"/>
          <p:nvPr/>
        </p:nvSpPr>
        <p:spPr>
          <a:xfrm>
            <a:off x="68580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−1,76 pp</a:t>
            </a:r>
            <a:endParaRPr lang="en-US" sz="2800" dirty="0"/>
          </a:p>
        </p:txBody>
      </p:sp>
      <p:sp>
        <p:nvSpPr>
          <p:cNvPr id="6" name="KPI 1 legenda"/>
          <p:cNvSpPr txBox="1"/>
          <p:nvPr/>
        </p:nvSpPr>
        <p:spPr>
          <a:xfrm>
            <a:off x="685800" y="3840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 umidade: de 17,16% (nov/25–mai/26) para 15,40% em out/26</a:t>
            </a:r>
            <a:endParaRPr lang="en-US" sz="1200" dirty="0"/>
          </a:p>
        </p:txBody>
      </p:sp>
      <p:sp>
        <p:nvSpPr>
          <p:cNvPr id="7" name="Cartão KPI 2"/>
          <p:cNvSpPr/>
          <p:nvPr/>
        </p:nvSpPr>
        <p:spPr>
          <a:xfrm>
            <a:off x="2423160" y="310896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KPI 2 valor"/>
          <p:cNvSpPr txBox="1"/>
          <p:nvPr/>
        </p:nvSpPr>
        <p:spPr>
          <a:xfrm>
            <a:off x="256032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−10,3%</a:t>
            </a:r>
            <a:endParaRPr lang="en-US" sz="2800" dirty="0"/>
          </a:p>
        </p:txBody>
      </p:sp>
      <p:sp>
        <p:nvSpPr>
          <p:cNvPr id="9" name="KPI 2 legenda"/>
          <p:cNvSpPr txBox="1"/>
          <p:nvPr/>
        </p:nvSpPr>
        <p:spPr>
          <a:xfrm>
            <a:off x="2560320" y="3840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redução relativa da umidade da torta</a:t>
            </a:r>
            <a:endParaRPr lang="en-US" sz="1200" dirty="0"/>
          </a:p>
        </p:txBody>
      </p:sp>
      <p:sp>
        <p:nvSpPr>
          <p:cNvPr id="10" name="Cartão KPI 3"/>
          <p:cNvSpPr/>
          <p:nvPr/>
        </p:nvSpPr>
        <p:spPr>
          <a:xfrm>
            <a:off x="4297680" y="310896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KPI 3 valor"/>
          <p:cNvSpPr txBox="1"/>
          <p:nvPr/>
        </p:nvSpPr>
        <p:spPr>
          <a:xfrm>
            <a:off x="443484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−25 kg</a:t>
            </a:r>
            <a:endParaRPr lang="en-US" sz="2800" dirty="0"/>
          </a:p>
        </p:txBody>
      </p:sp>
      <p:sp>
        <p:nvSpPr>
          <p:cNvPr id="12" name="KPI 3 legenda"/>
          <p:cNvSpPr txBox="1"/>
          <p:nvPr/>
        </p:nvSpPr>
        <p:spPr>
          <a:xfrm>
            <a:off x="4434840" y="3840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 água por tonelada de sólido seco (−12%)</a:t>
            </a:r>
            <a:endParaRPr lang="en-US" sz="1200" dirty="0"/>
          </a:p>
        </p:txBody>
      </p:sp>
      <p:sp>
        <p:nvSpPr>
          <p:cNvPr id="13" name="Mensagem tendência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Antes da rotina, 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umidade subia +0,15 pp/mês</a:t>
            </a:r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 (colmatação dos tecidos). Com a escala de limpeza a partir de jun/26, 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 tendência inverteu: −0,35 pp/mês.</a:t>
            </a:r>
            <a:endParaRPr lang="en-US" sz="1500" dirty="0"/>
          </a:p>
        </p:txBody>
      </p:sp>
      <p:sp>
        <p:nvSpPr>
          <p:cNvPr id="14" name="Título do gráfico"/>
          <p:cNvSpPr txBox="1"/>
          <p:nvPr/>
        </p:nvSpPr>
        <p:spPr>
          <a:xfrm>
            <a:off x="644652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Umidade H₂O – média mensal (%)</a:t>
            </a:r>
            <a:endParaRPr lang="en-US" sz="1300" dirty="0"/>
          </a:p>
        </p:txBody>
      </p:sp>
      <p:graphicFrame>
        <p:nvGraphicFramePr>
          <p:cNvPr id="15" name="Gráfico umidade mensal" descr=""/>
          <p:cNvGraphicFramePr/>
          <p:nvPr/>
        </p:nvGraphicFramePr>
        <p:xfrm>
          <a:off x="6355080" y="1143000"/>
          <a:ext cx="53035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Marco início da rotina"/>
          <p:cNvSpPr/>
          <p:nvPr/>
        </p:nvSpPr>
        <p:spPr>
          <a:xfrm>
            <a:off x="9541612" y="1560424"/>
            <a:ext cx="0" cy="3507638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</a:ln>
        </p:spPr>
      </p:sp>
      <p:sp>
        <p:nvSpPr>
          <p:cNvPr id="17" name="Rótulo antes"/>
          <p:cNvSpPr txBox="1"/>
          <p:nvPr/>
        </p:nvSpPr>
        <p:spPr>
          <a:xfrm>
            <a:off x="6726326" y="1450696"/>
            <a:ext cx="27238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Antes: sem rotina</a:t>
            </a:r>
            <a:endParaRPr lang="en-US" sz="1100" dirty="0"/>
          </a:p>
        </p:txBody>
      </p:sp>
      <p:sp>
        <p:nvSpPr>
          <p:cNvPr id="18" name="Rótulo depois"/>
          <p:cNvSpPr txBox="1"/>
          <p:nvPr/>
        </p:nvSpPr>
        <p:spPr>
          <a:xfrm>
            <a:off x="9633052" y="1450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Com rotina de limpeza</a:t>
            </a:r>
            <a:endParaRPr lang="en-US" sz="1100" dirty="0"/>
          </a:p>
        </p:txBody>
      </p:sp>
      <p:sp>
        <p:nvSpPr>
          <p:cNvPr id="19" name="Nota de fonte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Out/26 parcial (1 a 22/10), valor do MES. Fonte: MES Samarco – PF Elutriação H₂O, média aritmética mensal; nov–dez/25 calculados com os dados diários.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38404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estatisticamente significativa e fora do limite de controle</a:t>
            </a:r>
            <a:endParaRPr lang="en-US" sz="2600" dirty="0"/>
          </a:p>
        </p:txBody>
      </p:sp>
      <p:graphicFrame>
        <p:nvGraphicFramePr>
          <p:cNvPr id="3" name="Carta de controle" descr=""/>
          <p:cNvGraphicFramePr/>
          <p:nvPr/>
        </p:nvGraphicFramePr>
        <p:xfrm>
          <a:off x="411480" y="1417320"/>
          <a:ext cx="71780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arco início da rotina"/>
          <p:cNvSpPr/>
          <p:nvPr/>
        </p:nvSpPr>
        <p:spPr>
          <a:xfrm>
            <a:off x="4754194" y="1723644"/>
            <a:ext cx="0" cy="3152851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ysDash"/>
          </a:ln>
        </p:spPr>
      </p:sp>
      <p:sp>
        <p:nvSpPr>
          <p:cNvPr id="5" name="Rótulo marco"/>
          <p:cNvSpPr txBox="1"/>
          <p:nvPr/>
        </p:nvSpPr>
        <p:spPr>
          <a:xfrm>
            <a:off x="4827346" y="16779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Início da rotina de limpeza</a:t>
            </a:r>
            <a:endParaRPr lang="en-US" sz="1100" dirty="0"/>
          </a:p>
        </p:txBody>
      </p:sp>
      <p:sp>
        <p:nvSpPr>
          <p:cNvPr id="6" name="Título carta"/>
          <p:cNvSpPr txBox="1"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Carta de controle das médias mensais</a:t>
            </a:r>
            <a:endParaRPr lang="en-US" sz="1300" dirty="0"/>
          </a:p>
        </p:txBody>
      </p:sp>
      <p:graphicFrame>
        <p:nvGraphicFramePr>
          <p:cNvPr id="3" name="Tabela antes x depo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417320"/>
          <a:ext cx="3776472" cy="914400"/>
        </p:xfrm>
        <a:graphic>
          <a:graphicData uri="http://schemas.openxmlformats.org/drawingml/2006/table">
            <a:tbl>
              <a:tblPr/>
              <a:tblGrid>
                <a:gridCol w="1216152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Antes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nov/25–mai/26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 rotina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jun–out/26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Meses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Média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17,16%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16,41%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Desvio-padrão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0,39 pp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0,64 pp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Mín. – máx.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16,57 – 17,64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15,40 – 16,93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Tendência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+0,15 pp/mês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−0,35 pp/mês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ste 1"/>
          <p:cNvSpPr/>
          <p:nvPr/>
        </p:nvSpPr>
        <p:spPr>
          <a:xfrm>
            <a:off x="7863840" y="3611880"/>
            <a:ext cx="3776472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 teste 1"/>
          <p:cNvSpPr/>
          <p:nvPr/>
        </p:nvSpPr>
        <p:spPr>
          <a:xfrm>
            <a:off x="7991856" y="380390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o teste 1"/>
          <p:cNvSpPr txBox="1"/>
          <p:nvPr/>
        </p:nvSpPr>
        <p:spPr>
          <a:xfrm>
            <a:off x="8366760" y="3666744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Mann-Whitney (unilateral)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 = 0,024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queda significativa a 95% de confiança</a:t>
            </a:r>
            <a:endParaRPr lang="en-US" sz="1300" dirty="0"/>
          </a:p>
        </p:txBody>
      </p:sp>
      <p:sp>
        <p:nvSpPr>
          <p:cNvPr id="11" name="Teste 2"/>
          <p:cNvSpPr/>
          <p:nvPr/>
        </p:nvSpPr>
        <p:spPr>
          <a:xfrm>
            <a:off x="7863840" y="4361688"/>
            <a:ext cx="3776472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 teste 2"/>
          <p:cNvSpPr/>
          <p:nvPr/>
        </p:nvSpPr>
        <p:spPr>
          <a:xfrm>
            <a:off x="7991856" y="4553712"/>
            <a:ext cx="256032" cy="25603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o teste 2"/>
          <p:cNvSpPr txBox="1"/>
          <p:nvPr/>
        </p:nvSpPr>
        <p:spPr>
          <a:xfrm>
            <a:off x="8366760" y="4416552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 de Welch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 = 0,056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 = 0,026 contra a base jan–mai/26</a:t>
            </a:r>
            <a:endParaRPr lang="en-US" sz="1300" dirty="0"/>
          </a:p>
        </p:txBody>
      </p:sp>
      <p:sp>
        <p:nvSpPr>
          <p:cNvPr id="14" name="Teste 3"/>
          <p:cNvSpPr/>
          <p:nvPr/>
        </p:nvSpPr>
        <p:spPr>
          <a:xfrm>
            <a:off x="7863840" y="5111496"/>
            <a:ext cx="3776472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 teste 3"/>
          <p:cNvSpPr/>
          <p:nvPr/>
        </p:nvSpPr>
        <p:spPr>
          <a:xfrm>
            <a:off x="7991856" y="530352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o teste 3"/>
          <p:cNvSpPr txBox="1"/>
          <p:nvPr/>
        </p:nvSpPr>
        <p:spPr>
          <a:xfrm>
            <a:off x="8366760" y="5166360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Regras da carta de controle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violadas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 de 5 meses abaixo de −1σ; set e out abaixo do LIC</a:t>
            </a:r>
            <a:endParaRPr lang="en-US" sz="1300" dirty="0"/>
          </a:p>
        </p:txBody>
      </p:sp>
      <p:sp>
        <p:nvSpPr>
          <p:cNvPr id="17" name="Nota metodológica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LC, LSC e LIC calculados com a variação diária de nov/25–mai/26 (σ por amplitude móvel = 0,82 pp; n ≈ 30 dias por mês). Out/26 parcial (1 a 22/10).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38404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rotina simples gerou o ganho; agora é cumpri-la 100%</a:t>
            </a:r>
            <a:endParaRPr lang="en-US" sz="2600" dirty="0"/>
          </a:p>
        </p:txBody>
      </p:sp>
      <p:sp>
        <p:nvSpPr>
          <p:cNvPr id="3" name="Painel o que mudou"/>
          <p:cNvSpPr/>
          <p:nvPr/>
        </p:nvSpPr>
        <p:spPr>
          <a:xfrm>
            <a:off x="548640" y="1417320"/>
            <a:ext cx="4572000" cy="4389120"/>
          </a:xfrm>
          <a:prstGeom prst="roundRect">
            <a:avLst>
              <a:gd name="adj" fmla="val 1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hapéu o que mudou"/>
          <p:cNvSpPr txBox="1"/>
          <p:nvPr/>
        </p:nvSpPr>
        <p:spPr>
          <a:xfrm>
            <a:off x="82296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O QUE MUDOU A PARTIR DE JUN/26</a:t>
            </a:r>
            <a:endParaRPr lang="en-US" sz="1200" dirty="0"/>
          </a:p>
        </p:txBody>
      </p:sp>
      <p:pic>
        <p:nvPicPr>
          <p:cNvPr id="5" name="Ícone açã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6" name="Texto ação 1"/>
          <p:cNvSpPr txBox="1"/>
          <p:nvPr/>
        </p:nvSpPr>
        <p:spPr>
          <a:xfrm>
            <a:off x="137160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Rota fixa: um filtro por dia útil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Sequência respeitada toda semana</a:t>
            </a:r>
            <a:endParaRPr lang="en-US" sz="1500" dirty="0"/>
          </a:p>
        </p:txBody>
      </p:sp>
      <p:pic>
        <p:nvPicPr>
          <p:cNvPr id="7" name="Ícone açã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52928"/>
            <a:ext cx="365760" cy="365760"/>
          </a:xfrm>
          <a:prstGeom prst="rect">
            <a:avLst/>
          </a:prstGeom>
        </p:spPr>
      </p:pic>
      <p:sp>
        <p:nvSpPr>
          <p:cNvPr id="8" name="Texto ação 2"/>
          <p:cNvSpPr txBox="1"/>
          <p:nvPr/>
        </p:nvSpPr>
        <p:spPr>
          <a:xfrm>
            <a:off x="1371600" y="280720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Dono definido para cada limpeza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Letra no turno 1 (07–19h), pela escala de revezamento</a:t>
            </a:r>
            <a:endParaRPr lang="en-US" sz="1500" dirty="0"/>
          </a:p>
        </p:txBody>
      </p:sp>
      <p:pic>
        <p:nvPicPr>
          <p:cNvPr id="9" name="Ícone açã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02736"/>
            <a:ext cx="365760" cy="365760"/>
          </a:xfrm>
          <a:prstGeom prst="rect">
            <a:avLst/>
          </a:prstGeom>
        </p:spPr>
      </p:pic>
      <p:sp>
        <p:nvSpPr>
          <p:cNvPr id="10" name="Texto ação 3"/>
          <p:cNvSpPr txBox="1"/>
          <p:nvPr/>
        </p:nvSpPr>
        <p:spPr>
          <a:xfrm>
            <a:off x="1371600" y="355701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Gestão mensal da aderência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Previstas × realizadas por letra e por operador</a:t>
            </a:r>
            <a:endParaRPr lang="en-US" sz="1500" dirty="0"/>
          </a:p>
        </p:txBody>
      </p:sp>
      <p:sp>
        <p:nvSpPr>
          <p:cNvPr id="11" name="Rota SEG"/>
          <p:cNvSpPr/>
          <p:nvPr/>
        </p:nvSpPr>
        <p:spPr>
          <a:xfrm>
            <a:off x="822960" y="4526280"/>
            <a:ext cx="731520" cy="86868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o rota SEG"/>
          <p:cNvSpPr txBox="1"/>
          <p:nvPr/>
        </p:nvSpPr>
        <p:spPr>
          <a:xfrm>
            <a:off x="822960" y="46177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SEG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FP001</a:t>
            </a:r>
            <a:endParaRPr lang="en-US" sz="1100" dirty="0"/>
          </a:p>
        </p:txBody>
      </p:sp>
      <p:sp>
        <p:nvSpPr>
          <p:cNvPr id="13" name="Rota TER"/>
          <p:cNvSpPr/>
          <p:nvPr/>
        </p:nvSpPr>
        <p:spPr>
          <a:xfrm>
            <a:off x="1645920" y="4526280"/>
            <a:ext cx="731520" cy="86868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o rota TER"/>
          <p:cNvSpPr txBox="1"/>
          <p:nvPr/>
        </p:nvSpPr>
        <p:spPr>
          <a:xfrm>
            <a:off x="1645920" y="46177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TER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FP002</a:t>
            </a:r>
            <a:endParaRPr lang="en-US" sz="1100" dirty="0"/>
          </a:p>
        </p:txBody>
      </p:sp>
      <p:sp>
        <p:nvSpPr>
          <p:cNvPr id="15" name="Rota QUA"/>
          <p:cNvSpPr/>
          <p:nvPr/>
        </p:nvSpPr>
        <p:spPr>
          <a:xfrm>
            <a:off x="2468880" y="4526280"/>
            <a:ext cx="731520" cy="86868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o rota QUA"/>
          <p:cNvSpPr txBox="1"/>
          <p:nvPr/>
        </p:nvSpPr>
        <p:spPr>
          <a:xfrm>
            <a:off x="2468880" y="46177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QUA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FP005</a:t>
            </a:r>
            <a:endParaRPr lang="en-US" sz="1100" dirty="0"/>
          </a:p>
        </p:txBody>
      </p:sp>
      <p:sp>
        <p:nvSpPr>
          <p:cNvPr id="17" name="Rota QUI"/>
          <p:cNvSpPr/>
          <p:nvPr/>
        </p:nvSpPr>
        <p:spPr>
          <a:xfrm>
            <a:off x="3291840" y="4526280"/>
            <a:ext cx="731520" cy="86868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o rota QUI"/>
          <p:cNvSpPr txBox="1"/>
          <p:nvPr/>
        </p:nvSpPr>
        <p:spPr>
          <a:xfrm>
            <a:off x="3291840" y="46177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QUI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FP003</a:t>
            </a:r>
            <a:endParaRPr lang="en-US" sz="1100" dirty="0"/>
          </a:p>
        </p:txBody>
      </p:sp>
      <p:sp>
        <p:nvSpPr>
          <p:cNvPr id="19" name="Rota SEX"/>
          <p:cNvSpPr/>
          <p:nvPr/>
        </p:nvSpPr>
        <p:spPr>
          <a:xfrm>
            <a:off x="4114800" y="4526280"/>
            <a:ext cx="731520" cy="86868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o rota SEX"/>
          <p:cNvSpPr txBox="1"/>
          <p:nvPr/>
        </p:nvSpPr>
        <p:spPr>
          <a:xfrm>
            <a:off x="4114800" y="46177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SEX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FP004</a:t>
            </a:r>
            <a:endParaRPr lang="en-US" sz="1100" dirty="0"/>
          </a:p>
        </p:txBody>
      </p:sp>
      <p:pic>
        <p:nvPicPr>
          <p:cNvPr id="21" name="Foto torta de filtragem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417320"/>
            <a:ext cx="2514600" cy="2148328"/>
          </a:xfrm>
          <a:prstGeom prst="rect">
            <a:avLst/>
          </a:prstGeom>
        </p:spPr>
      </p:pic>
      <p:pic>
        <p:nvPicPr>
          <p:cNvPr id="22" name="Ícone got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657600"/>
            <a:ext cx="329184" cy="329184"/>
          </a:xfrm>
          <a:prstGeom prst="rect">
            <a:avLst/>
          </a:prstGeom>
        </p:spPr>
      </p:pic>
      <p:sp>
        <p:nvSpPr>
          <p:cNvPr id="23" name="Título por que funciona"/>
          <p:cNvSpPr txBox="1"/>
          <p:nvPr/>
        </p:nvSpPr>
        <p:spPr>
          <a:xfrm>
            <a:off x="589788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Por que funciona</a:t>
            </a:r>
            <a:endParaRPr lang="en-US" sz="1600" dirty="0"/>
          </a:p>
        </p:txBody>
      </p:sp>
      <p:sp>
        <p:nvSpPr>
          <p:cNvPr id="24" name="Texto por que funciona"/>
          <p:cNvSpPr txBox="1"/>
          <p:nvPr/>
        </p:nvSpPr>
        <p:spPr>
          <a:xfrm>
            <a:off x="5440680" y="411480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Tecido limpo drena melhor e a torta sai com menos água. Com tecidos novos (nov–dez/25) a umidade era 16,6–16,8%; sem limpeza, chegou a 17,6% em mar/26. A rotina recuperou e superou a condição de tecido novo.</a:t>
            </a:r>
            <a:endParaRPr lang="en-US" sz="1400" dirty="0"/>
          </a:p>
        </p:txBody>
      </p:sp>
      <p:pic>
        <p:nvPicPr>
          <p:cNvPr id="25" name="Ícone alv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1417320"/>
            <a:ext cx="329184" cy="329184"/>
          </a:xfrm>
          <a:prstGeom prst="rect">
            <a:avLst/>
          </a:prstGeom>
        </p:spPr>
      </p:pic>
      <p:sp>
        <p:nvSpPr>
          <p:cNvPr id="26" name="Título próximos passos"/>
          <p:cNvSpPr txBox="1"/>
          <p:nvPr/>
        </p:nvSpPr>
        <p:spPr>
          <a:xfrm>
            <a:off x="9144000" y="1417320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Próximos passos</a:t>
            </a:r>
            <a:endParaRPr lang="en-US" sz="1600" dirty="0"/>
          </a:p>
        </p:txBody>
      </p:sp>
      <p:sp>
        <p:nvSpPr>
          <p:cNvPr id="27" name="Número passo 1"/>
          <p:cNvSpPr/>
          <p:nvPr/>
        </p:nvSpPr>
        <p:spPr>
          <a:xfrm>
            <a:off x="8686800" y="19842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o número 1"/>
          <p:cNvSpPr txBox="1"/>
          <p:nvPr/>
        </p:nvSpPr>
        <p:spPr>
          <a:xfrm>
            <a:off x="868680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29" name="Texto passo 1"/>
          <p:cNvSpPr txBox="1"/>
          <p:nvPr/>
        </p:nvSpPr>
        <p:spPr>
          <a:xfrm>
            <a:off x="9144000" y="1965960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Aderência à rota ≥ 90%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Hoje: set/26 41%; out/26 67% (até 22/10)</a:t>
            </a:r>
            <a:endParaRPr lang="en-US" sz="1400" dirty="0"/>
          </a:p>
        </p:txBody>
      </p:sp>
      <p:sp>
        <p:nvSpPr>
          <p:cNvPr id="30" name="Número passo 2"/>
          <p:cNvSpPr/>
          <p:nvPr/>
        </p:nvSpPr>
        <p:spPr>
          <a:xfrm>
            <a:off x="8686800" y="29443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o número 2"/>
          <p:cNvSpPr txBox="1"/>
          <p:nvPr/>
        </p:nvSpPr>
        <p:spPr>
          <a:xfrm>
            <a:off x="868680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Texto passo 2"/>
          <p:cNvSpPr txBox="1"/>
          <p:nvPr/>
        </p:nvSpPr>
        <p:spPr>
          <a:xfrm>
            <a:off x="9144000" y="2926080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Umidade × aderência todo mês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Fechamento no painel de limpeza</a:t>
            </a:r>
            <a:endParaRPr lang="en-US" sz="1400" dirty="0"/>
          </a:p>
        </p:txBody>
      </p:sp>
      <p:sp>
        <p:nvSpPr>
          <p:cNvPr id="33" name="Número passo 3"/>
          <p:cNvSpPr/>
          <p:nvPr/>
        </p:nvSpPr>
        <p:spPr>
          <a:xfrm>
            <a:off x="8686800" y="390448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o número 3"/>
          <p:cNvSpPr txBox="1"/>
          <p:nvPr/>
        </p:nvSpPr>
        <p:spPr>
          <a:xfrm>
            <a:off x="8686800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35" name="Texto passo 3"/>
          <p:cNvSpPr txBox="1"/>
          <p:nvPr/>
        </p:nvSpPr>
        <p:spPr>
          <a:xfrm>
            <a:off x="9144000" y="3886200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Valorar o ganho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−25 kg de água/t seca × produção = energia no forno</a:t>
            </a:r>
            <a:endParaRPr lang="en-US" sz="1400" dirty="0"/>
          </a:p>
        </p:txBody>
      </p:sp>
      <p:sp>
        <p:nvSpPr>
          <p:cNvPr id="36" name="Número passo 4"/>
          <p:cNvSpPr/>
          <p:nvPr/>
        </p:nvSpPr>
        <p:spPr>
          <a:xfrm>
            <a:off x="8686800" y="486460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o número 4"/>
          <p:cNvSpPr txBox="1"/>
          <p:nvPr/>
        </p:nvSpPr>
        <p:spPr>
          <a:xfrm>
            <a:off x="8686800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Texto passo 4"/>
          <p:cNvSpPr txBox="1"/>
          <p:nvPr/>
        </p:nvSpPr>
        <p:spPr>
          <a:xfrm>
            <a:off x="9144000" y="4846320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Padronizar em procedimento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Rota, responsáveis e checklist da limpeza</a:t>
            </a:r>
            <a:endParaRPr lang="en-US" sz="1400" dirty="0"/>
          </a:p>
        </p:txBody>
      </p:sp>
      <p:sp>
        <p:nvSpPr>
          <p:cNvPr id="39" name="Limitações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Limitações: a troca geral dos tecidos do FP001 (01/08/26) também contribui para o resultado; out/26 é parcial; alimentação, granulometria e pressão de filtragem não foram isoladas nesta análise.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arco">
  <a:themeElements>
    <a:clrScheme name="Samarco">
      <a:dk1>
        <a:srgbClr val="1D2B36"/>
      </a:dk1>
      <a:lt1>
        <a:srgbClr val="FFFFFF"/>
      </a:lt1>
      <a:dk2>
        <a:srgbClr val="00335A"/>
      </a:dk2>
      <a:lt2>
        <a:srgbClr val="F3F5F7"/>
      </a:lt2>
      <a:accent1>
        <a:srgbClr val="00335A"/>
      </a:accent1>
      <a:accent2>
        <a:srgbClr val="FFC000"/>
      </a:accent2>
      <a:accent3>
        <a:srgbClr val="59C6F2"/>
      </a:accent3>
      <a:accent4>
        <a:srgbClr val="F37021"/>
      </a:accent4>
      <a:accent5>
        <a:srgbClr val="61889B"/>
      </a:accent5>
      <a:accent6>
        <a:srgbClr val="B5BEC4"/>
      </a:accent6>
      <a:hlink>
        <a:srgbClr val="004070"/>
      </a:hlink>
      <a:folHlink>
        <a:srgbClr val="61889B"/>
      </a:folHlink>
    </a:clrScheme>
    <a:fontScheme name="Samarc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Samarco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Umidade da torta do filtro prensa – ganhos com a rotina de limpeza</dc:title>
  <dc:subject>PptxGenJS Presentation</dc:subject>
  <dc:creator>Samarco – Ponta Ubu</dc:creator>
  <cp:lastModifiedBy>Samarco – Ponta Ubu</cp:lastModifiedBy>
  <cp:revision>1</cp:revision>
  <dcterms:created xsi:type="dcterms:W3CDTF">2026-10-22T15:28:07Z</dcterms:created>
  <dcterms:modified xsi:type="dcterms:W3CDTF">2026-10-22T15:28:07Z</dcterms:modified>
</cp:coreProperties>
</file>